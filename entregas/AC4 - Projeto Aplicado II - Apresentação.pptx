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13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750"/>
            <a:ext cx="1141521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12425" y="1523070"/>
            <a:ext cx="6319149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-1" dirty="0">
                <a:solidFill>
                  <a:srgbClr val="E31837"/>
                </a:solidFill>
              </a:rPr>
              <a:t>PADRÕES DE VENDA
DE PRODUTOS NA AMAZON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1412425" y="3363255"/>
            <a:ext cx="631914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2C2C2C"/>
                </a:solidFill>
              </a:rPr>
              <a:t>Análise sobre o comportamento de consumo de produtos eletrônicos em 2025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3339787" y="3683384"/>
            <a:ext cx="246439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Cristina Lellis Villanova
 Eduardo Pinheiro Canas
 Hugo de Moraes Holzer
 Luiz Rodrigo Alves Vergino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3339787" y="4521994"/>
            <a:ext cx="246439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31837"/>
                </a:solidFill>
              </a:rPr>
              <a:t>Universidade Presbiteriana Mackenzie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8037"/>
            <a:ext cx="3786188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O Desafio do Varejo Online e Nossos Objetivos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648113"/>
            <a:ext cx="285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31837"/>
                </a:solidFill>
              </a:rPr>
              <a:t>1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1000125" y="1648113"/>
            <a:ext cx="3357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Contexto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000125" y="1898145"/>
            <a:ext cx="33575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A Amazon é um gigante do e-commerce. Entender os fatores que impulsionam as vendas é crucial para qualquer estratégia de varejo.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732484"/>
            <a:ext cx="285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31837"/>
                </a:solidFill>
              </a:rPr>
              <a:t>2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1000125" y="2732484"/>
            <a:ext cx="3357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Base de Dados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000125" y="2982516"/>
            <a:ext cx="33575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Dataset do Kaggle com mais de 42 mil registros de vendas de produtos eletrônicos em 2025.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3633992"/>
            <a:ext cx="285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31837"/>
                </a:solidFill>
              </a:rPr>
              <a:t>3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1000125" y="3633992"/>
            <a:ext cx="3357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Objetivo Central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000125" y="3884023"/>
            <a:ext cx="33575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Desenvolver um modelo preditivo para analisar o peso relativo de variáveis como preço, desconto, rating e patrocínio.</a:t>
            </a:r>
            <a:endParaRPr lang="en-US" sz="834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583513"/>
            <a:ext cx="3786188" cy="20335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46291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As Ferramentas da Ciência de Dados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971550"/>
            <a:ext cx="925813" cy="364331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971550"/>
            <a:ext cx="925813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Biblioteca</a:t>
            </a:r>
            <a:endParaRPr lang="en-US" sz="683" dirty="0"/>
          </a:p>
        </p:txBody>
      </p:sp>
      <p:sp>
        <p:nvSpPr>
          <p:cNvPr id="6" name="Shape 3"/>
          <p:cNvSpPr/>
          <p:nvPr/>
        </p:nvSpPr>
        <p:spPr>
          <a:xfrm>
            <a:off x="1497313" y="971550"/>
            <a:ext cx="1620180" cy="364331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497313" y="971550"/>
            <a:ext cx="1620180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Função Principal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3117493" y="971550"/>
            <a:ext cx="2083157" cy="364331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117493" y="971550"/>
            <a:ext cx="2083157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Foco no Projeto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1335881"/>
            <a:ext cx="925813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Pandas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1497313" y="1335881"/>
            <a:ext cx="1620180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Manipulação e Estruturação de Dados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117493" y="1335881"/>
            <a:ext cx="2083157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Leitura, organização e manipulação do dataset de 42k linhas.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500" y="1853803"/>
            <a:ext cx="925813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NumPy &amp; SciPy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497313" y="1853803"/>
            <a:ext cx="1620180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Fundamentos Matemáticos e Numéricos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3117493" y="1853803"/>
            <a:ext cx="2083157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Suporte para cálculos, normalizações e operações de alto desempenho.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71500" y="2375297"/>
            <a:ext cx="925813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Matplotlib &amp; Seaborn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497313" y="2375297"/>
            <a:ext cx="1620180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Visualização de Dados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3117493" y="2375297"/>
            <a:ext cx="2083157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Análise Exploratória (AED), histogramas e gráficos de dispersão.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571500" y="2896791"/>
            <a:ext cx="925813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Scikit-Learn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1497313" y="2896791"/>
            <a:ext cx="1620180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Aprendizado de Máquina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3117493" y="2896791"/>
            <a:ext cx="2083157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Separação treino/teste, Regressão Linear e avaliação de métricas.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571500" y="3418284"/>
            <a:ext cx="925813" cy="5250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Módulo `re`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1497313" y="3418284"/>
            <a:ext cx="1620180" cy="5250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Expressões Regulares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3117493" y="3418284"/>
            <a:ext cx="2083157" cy="5250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Limpeza e padronização de campos textuais, preços e cupons.</a:t>
            </a:r>
            <a:endParaRPr lang="en-US" sz="727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14338"/>
            <a:ext cx="30861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2040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Limpeza de Dados: Garantindo a Qualidade da Análise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578769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1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071563" y="1614488"/>
            <a:ext cx="37040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C2C2C"/>
                </a:solidFill>
              </a:rPr>
              <a:t>Padronização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1071563" y="1853803"/>
            <a:ext cx="37040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Ajuste de variáveis categóricas (ex: 'yes'/'no' convertidos para binário).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571500" y="2275284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2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1071563" y="2311003"/>
            <a:ext cx="37040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C2C2C"/>
                </a:solidFill>
              </a:rPr>
              <a:t>Extração com Regex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1071563" y="2550319"/>
            <a:ext cx="37040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Uso de expressões regulares para extrair valores numéricos de strings (preços, percentuais de desconto e cupons).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571500" y="3143250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3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1071563" y="3178969"/>
            <a:ext cx="37040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C2C2C"/>
                </a:solidFill>
              </a:rPr>
              <a:t>Tratamento de Ausentes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1071563" y="3418284"/>
            <a:ext cx="37040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Imputação simples para dados faltantes e normalização de variáveis numéricas.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71500" y="4011216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4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1071563" y="4046934"/>
            <a:ext cx="37040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C2C2C"/>
                </a:solidFill>
              </a:rPr>
              <a:t>Decomposição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1071563" y="4286250"/>
            <a:ext cx="37040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Transformação de atributos complexos (cupons) em formas binárias e percentuais para melhor granularidade.</a:t>
            </a:r>
            <a:endParaRPr lang="en-US" sz="78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784" y="1938189"/>
            <a:ext cx="3439716" cy="1324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306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49684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Análise Exploratória: O Comportamento de Cauda Longa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350169"/>
            <a:ext cx="4968478" cy="84793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571500" y="1350169"/>
            <a:ext cx="42863" cy="847930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14375" y="1493044"/>
            <a:ext cx="46827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8B0000"/>
                </a:solidFill>
              </a:rPr>
              <a:t>Hipótese Inicial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714375" y="1689497"/>
            <a:ext cx="468272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2C2C"/>
                </a:solidFill>
              </a:rPr>
              <a:t>Descontos, promoções e bom rating deveriam aumentar as vendas de forma agregada.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71500" y="2698161"/>
            <a:ext cx="321469" cy="32146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71500" y="2698161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1035844" y="2698161"/>
            <a:ext cx="45041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2C2C"/>
                </a:solidFill>
              </a:rPr>
              <a:t>Distribuição de Cauda Longa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035844" y="2912473"/>
            <a:ext cx="45041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Observamos uma distribuição de cauda longa nas vendas (`bought_in_last_month`), típica do varejo: poucos produtos vendem muito, a maioria vende pouco.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571500" y="3362530"/>
            <a:ext cx="321469" cy="32146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71500" y="3362530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035844" y="3362530"/>
            <a:ext cx="45041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2C2C"/>
                </a:solidFill>
              </a:rPr>
              <a:t>Correlações Fracas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035844" y="3576842"/>
            <a:ext cx="45041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A análise de correlação linear entre as variáveis preditoras (preço, desconto, rating) e o volume de vendas mostrou-se fraca.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571500" y="4348367"/>
            <a:ext cx="4968478" cy="825103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71500" y="4348367"/>
            <a:ext cx="42863" cy="825103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714375" y="4491242"/>
            <a:ext cx="46827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8B0000"/>
                </a:solidFill>
              </a:rPr>
              <a:t>Conclusão Parcial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714375" y="4687695"/>
            <a:ext cx="46827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2C2C"/>
                </a:solidFill>
              </a:rPr>
              <a:t>O comportamento do consumidor na Amazon é mais complexo do que uma relação linear simples.</a:t>
            </a:r>
            <a:endParaRPr lang="en-US" sz="78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166" y="414338"/>
            <a:ext cx="2675334" cy="1473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707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50149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Modelagem Preditiva: Regressão Linear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28663" y="1185863"/>
            <a:ext cx="1100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Entrada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728663" y="1407319"/>
            <a:ext cx="11001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Variáveis
Preditivas</a:t>
            </a:r>
            <a:endParaRPr lang="en-US" sz="674" dirty="0"/>
          </a:p>
        </p:txBody>
      </p:sp>
      <p:sp>
        <p:nvSpPr>
          <p:cNvPr id="6" name="Text 3"/>
          <p:cNvSpPr/>
          <p:nvPr/>
        </p:nvSpPr>
        <p:spPr>
          <a:xfrm>
            <a:off x="2093119" y="1307306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31837"/>
                </a:solidFill>
              </a:rPr>
              <a:t>→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528888" y="1185863"/>
            <a:ext cx="1100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Modelo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528888" y="1407319"/>
            <a:ext cx="11001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Regressão
Linear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3893344" y="1307306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31837"/>
                </a:solidFill>
              </a:rPr>
              <a:t>→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329113" y="1185863"/>
            <a:ext cx="1100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Saída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329113" y="1407319"/>
            <a:ext cx="11001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Volume de
Vendas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71500" y="2328863"/>
            <a:ext cx="5014913" cy="25717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2C2C"/>
                </a:solidFill>
              </a:rPr>
              <a:t>Variáveis Preditivas (X)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71500" y="2693194"/>
            <a:ext cx="2464594" cy="26431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71500" y="2693194"/>
            <a:ext cx="21431" cy="26431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71500" y="2693194"/>
            <a:ext cx="2464594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• Preço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3121819" y="2693194"/>
            <a:ext cx="2464594" cy="26431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3121819" y="2693194"/>
            <a:ext cx="21431" cy="26431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121819" y="2693194"/>
            <a:ext cx="2464594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• Desconto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571500" y="3043238"/>
            <a:ext cx="2464594" cy="26431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71500" y="3043238"/>
            <a:ext cx="21431" cy="26431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71500" y="3043238"/>
            <a:ext cx="2464594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• Rating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3121819" y="3043238"/>
            <a:ext cx="2464594" cy="26431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3121819" y="3043238"/>
            <a:ext cx="21431" cy="26431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121819" y="3043238"/>
            <a:ext cx="2464594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• Número de Reviews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571500" y="3393281"/>
            <a:ext cx="2464594" cy="26431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571500" y="3393281"/>
            <a:ext cx="21431" cy="26431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571500" y="3393281"/>
            <a:ext cx="2464594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• Cupom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3121819" y="3393281"/>
            <a:ext cx="2464594" cy="26431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3121819" y="3393281"/>
            <a:ext cx="21431" cy="26431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3121819" y="3393281"/>
            <a:ext cx="2464594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• Patrocínio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571500" y="3907631"/>
            <a:ext cx="5014913" cy="25717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2C2C"/>
                </a:solidFill>
              </a:rPr>
              <a:t>Variável Alvo (Y)</a:t>
            </a:r>
            <a:endParaRPr lang="en-US" sz="784" dirty="0"/>
          </a:p>
        </p:txBody>
      </p:sp>
      <p:sp>
        <p:nvSpPr>
          <p:cNvPr id="32" name="Shape 29"/>
          <p:cNvSpPr/>
          <p:nvPr/>
        </p:nvSpPr>
        <p:spPr>
          <a:xfrm>
            <a:off x="571500" y="4271963"/>
            <a:ext cx="5014913" cy="26431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571500" y="4271963"/>
            <a:ext cx="21431" cy="264319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571500" y="4271963"/>
            <a:ext cx="501491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Compras realizadas no último mês (bought_in_last_month)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571500" y="4786313"/>
            <a:ext cx="5014913" cy="82722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571500" y="4786313"/>
            <a:ext cx="28575" cy="827224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714375" y="4929188"/>
            <a:ext cx="47291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Propósito do Modelo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714375" y="5150644"/>
            <a:ext cx="47291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O objetivo principal não é a previsão absoluta, mas sim a </a:t>
            </a:r>
            <a:r>
              <a:rPr lang="en-US" sz="683" b="1" dirty="0">
                <a:solidFill>
                  <a:srgbClr val="2C2C2C"/>
                </a:solidFill>
              </a:rPr>
              <a:t>interpretabilidade</a:t>
            </a:r>
            <a:r>
              <a:rPr lang="en-US" sz="727" dirty="0">
                <a:solidFill>
                  <a:srgbClr val="2C2C2C"/>
                </a:solidFill>
              </a:rPr>
              <a:t>. O modelo serve como uma ferramenta estratégica para entender o peso relativo de cada fator nas vendas.</a:t>
            </a:r>
            <a:endParaRPr lang="en-US" sz="727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163" y="414338"/>
            <a:ext cx="2700338" cy="8100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635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4204097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Resultados e Interpretabilidade: O Modelo como Ferramenta Estratégica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484421"/>
            <a:ext cx="357188" cy="35718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1484421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1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1071563" y="1484421"/>
            <a:ext cx="37040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Métricas de Avaliação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1071563" y="1748740"/>
            <a:ext cx="1048364" cy="16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Avaliamos o </a:t>
            </a:r>
            <a:r>
              <a:rPr lang="en-US" sz="780" dirty="0" err="1">
                <a:solidFill>
                  <a:srgbClr val="4A4A4A"/>
                </a:solidFill>
              </a:rPr>
              <a:t>modelo</a:t>
            </a:r>
            <a:r>
              <a:rPr lang="en-US" sz="780" dirty="0">
                <a:solidFill>
                  <a:srgbClr val="4A4A4A"/>
                </a:solidFill>
              </a:rPr>
              <a:t> com: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071563" y="2039252"/>
            <a:ext cx="3704034" cy="50006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060847" y="2039252"/>
            <a:ext cx="21431" cy="500063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178719" y="2124977"/>
            <a:ext cx="3489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31837"/>
                </a:solidFill>
              </a:rPr>
              <a:t>R² (Coeficiente de Determinação)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1178719" y="2303571"/>
            <a:ext cx="3489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Indica a proporção da variância explicada pelo modelo.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571500" y="2915551"/>
            <a:ext cx="357188" cy="35718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71500" y="2915551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2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1071563" y="2915551"/>
            <a:ext cx="37040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Interpretação do R² Baixo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1071563" y="3179870"/>
            <a:ext cx="37040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O valor de R² foi baixo, o que era esperado. Isso confirma a complexidade e a não-linearidade do fenômeno de vendas na Amazon, validando nossa hipótese inicial.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571500" y="3872814"/>
            <a:ext cx="357188" cy="35718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571500" y="387281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3</a:t>
            </a:r>
            <a:endParaRPr lang="en-US" sz="1602" dirty="0"/>
          </a:p>
        </p:txBody>
      </p:sp>
      <p:sp>
        <p:nvSpPr>
          <p:cNvPr id="26" name="Text 23"/>
          <p:cNvSpPr/>
          <p:nvPr/>
        </p:nvSpPr>
        <p:spPr>
          <a:xfrm>
            <a:off x="1071563" y="3872814"/>
            <a:ext cx="37040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Valor Estratégico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1071563" y="4137132"/>
            <a:ext cx="37040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O modelo nos permite simular cenários: "Qual o impacto de ativar um cupom de 15%?" Quantificamos o impacto relativo de cada alavanca de venda.</a:t>
            </a:r>
            <a:endParaRPr lang="en-US" sz="78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784" y="2136232"/>
            <a:ext cx="3439716" cy="1648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Conclusão Estratégica: A Heterogeneidade do Varejo Exige Segmentação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294414"/>
            <a:ext cx="2524116" cy="34918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571500" y="1294414"/>
            <a:ext cx="28575" cy="349189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85813" y="1508727"/>
            <a:ext cx="321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1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1214438" y="1583736"/>
            <a:ext cx="12775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Desafio da Hipótese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85813" y="1994502"/>
            <a:ext cx="209549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A análise confirmou que o que funciona para uma categoria pode não funcionar para outra. O comportamento é </a:t>
            </a:r>
            <a:r>
              <a:rPr lang="en-US" sz="734" b="1" dirty="0">
                <a:solidFill>
                  <a:srgbClr val="E31837"/>
                </a:solidFill>
              </a:rPr>
              <a:t>altamente heterogêneo</a:t>
            </a:r>
            <a:r>
              <a:rPr lang="en-US" sz="780" dirty="0">
                <a:solidFill>
                  <a:srgbClr val="4A4A4A"/>
                </a:solidFill>
              </a:rPr>
              <a:t>.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309928" y="1294414"/>
            <a:ext cx="2524116" cy="34918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309928" y="1294414"/>
            <a:ext cx="28575" cy="349189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524241" y="1508727"/>
            <a:ext cx="321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2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952866" y="1583736"/>
            <a:ext cx="13508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Insight Fundamental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3524241" y="1994502"/>
            <a:ext cx="209549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As alavancas de venda (cupom, patrocínio) são </a:t>
            </a:r>
            <a:r>
              <a:rPr lang="en-US" sz="734" b="1" dirty="0">
                <a:solidFill>
                  <a:srgbClr val="E31837"/>
                </a:solidFill>
              </a:rPr>
              <a:t>eficientes, mas de forma localizada</a:t>
            </a:r>
            <a:r>
              <a:rPr lang="en-US" sz="780" dirty="0">
                <a:solidFill>
                  <a:srgbClr val="4A4A4A"/>
                </a:solidFill>
              </a:rPr>
              <a:t>. Não existe uma regra universal.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6048356" y="1294414"/>
            <a:ext cx="2524144" cy="34918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048356" y="1294414"/>
            <a:ext cx="28575" cy="349189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62669" y="1530158"/>
            <a:ext cx="321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31837"/>
                </a:solidFill>
              </a:rPr>
              <a:t>3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6691294" y="1508727"/>
            <a:ext cx="16668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2C2C"/>
                </a:solidFill>
              </a:rPr>
              <a:t>Recomendação de Negócio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262669" y="2037364"/>
            <a:ext cx="2095519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As decisões de preço e promoção devem ser </a:t>
            </a:r>
            <a:r>
              <a:rPr lang="en-US" sz="734" b="1" dirty="0">
                <a:solidFill>
                  <a:srgbClr val="E31837"/>
                </a:solidFill>
              </a:rPr>
              <a:t>segmentadas por categoria</a:t>
            </a:r>
            <a:r>
              <a:rPr lang="en-US" sz="780" dirty="0">
                <a:solidFill>
                  <a:srgbClr val="4A4A4A"/>
                </a:solidFill>
              </a:rPr>
              <a:t> de produto, em vez de aplicar regras universais.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690</Words>
  <Application>Microsoft Office PowerPoint</Application>
  <PresentationFormat>Apresentação na tela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Hugo Holzer</cp:lastModifiedBy>
  <cp:revision>2</cp:revision>
  <dcterms:created xsi:type="dcterms:W3CDTF">2025-11-18T23:26:52Z</dcterms:created>
  <dcterms:modified xsi:type="dcterms:W3CDTF">2025-11-20T13:30:03Z</dcterms:modified>
</cp:coreProperties>
</file>